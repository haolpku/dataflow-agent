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4572000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B4E628"/>
                </a:solidFill>
              </a:rPr>
              <a:t>NORTHSTAR / BOARD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6400800" cy="2743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 algn="l"/>
            <a:r>
              <a:rPr b="1" sz="7600">
                <a:solidFill>
                  <a:srgbClr val="F5F5F5"/>
                </a:solidFill>
              </a:rPr>
              <a:t>Q2
</a:t>
            </a:r>
            <a:r>
              <a:rPr b="1" sz="4400">
                <a:solidFill>
                  <a:srgbClr val="F5F5F5"/>
                </a:solidFill>
              </a:rPr>
              <a:t>A sharper path
to durable growth.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5486400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 algn="l"/>
            <a:r>
              <a:rPr sz="1800">
                <a:solidFill>
                  <a:srgbClr val="A0AFC3"/>
                </a:solidFill>
              </a:rPr>
              <a:t>Executive operating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486400"/>
            <a:ext cx="4572000" cy="502920"/>
          </a:xfrm>
          <a:prstGeom prst="roundRect">
            <a:avLst/>
          </a:prstGeom>
          <a:solidFill>
            <a:srgbClr val="162232"/>
          </a:solidFill>
          <a:ln w="12700">
            <a:solidFill>
              <a:srgbClr val="1E2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r>
              <a:rPr sz="1100">
                <a:solidFill>
                  <a:srgbClr val="DCE6F0"/>
                </a:solidFill>
              </a:rPr>
              <a:t>JUNE 2026    |    SAN FRANCISCO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5760720"/>
            <a:ext cx="914400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 algn="r"/>
            <a:r>
              <a:rPr sz="1400" b="0">
                <a:solidFill>
                  <a:srgbClr val="8C9BAF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78828C"/>
                </a:solidFill>
              </a:rPr>
              <a:t>Q2 EXECUTIVE PULSE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8229600" cy="109728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 algn="l"/>
            <a:r>
              <a:rPr b="1" sz="3400">
                <a:solidFill>
                  <a:srgbClr val="0F1724"/>
                </a:solidFill>
              </a:rPr>
              <a:t>Growth is strong.
</a:t>
            </a:r>
            <a:r>
              <a:rPr b="1" sz="3400">
                <a:solidFill>
                  <a:srgbClr val="F06E5F"/>
                </a:solidFill>
              </a:rPr>
              <a:t>Activation is the constraint.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2468880" cy="1188720"/>
          </a:xfrm>
          <a:prstGeom prst="roundRect">
            <a:avLst/>
          </a:prstGeom>
          <a:solidFill>
            <a:srgbClr val="0F172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82880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A0AFC3"/>
                </a:solidFill>
              </a:rPr>
              <a:t>ARR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60320"/>
            <a:ext cx="1371600" cy="54864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$42.8M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697480"/>
            <a:ext cx="777240" cy="320040"/>
          </a:xfrm>
          <a:prstGeom prst="roundRect">
            <a:avLst/>
          </a:prstGeom>
          <a:solidFill>
            <a:srgbClr val="C8F52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r>
              <a:rPr sz="1100">
                <a:solidFill>
                  <a:srgbClr val="0F1724"/>
                </a:solidFill>
              </a:rPr>
              <a:t>+38% YoY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103120"/>
            <a:ext cx="2468880" cy="1188720"/>
          </a:xfrm>
          <a:prstGeom prst="roundRect">
            <a:avLst/>
          </a:prstGeom>
          <a:solidFill>
            <a:srgbClr val="FFFF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240280"/>
            <a:ext cx="219456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646E7D"/>
                </a:solidFill>
              </a:rPr>
              <a:t>NET REVENUE RETENTION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560320"/>
            <a:ext cx="1280160" cy="54864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0F1724"/>
                </a:solidFill>
              </a:rPr>
              <a:t>118%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2697480"/>
            <a:ext cx="685800" cy="320040"/>
          </a:xfrm>
          <a:prstGeom prst="roundRect">
            <a:avLst/>
          </a:prstGeom>
          <a:solidFill>
            <a:srgbClr val="D7E6F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r>
              <a:rPr sz="1100">
                <a:solidFill>
                  <a:srgbClr val="0F1724"/>
                </a:solidFill>
              </a:rPr>
              <a:t>+4 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103120"/>
            <a:ext cx="2468880" cy="1188720"/>
          </a:xfrm>
          <a:prstGeom prst="roundRect">
            <a:avLst/>
          </a:prstGeom>
          <a:solidFill>
            <a:srgbClr val="FFFF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2240280"/>
            <a:ext cx="219456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646E7D"/>
                </a:solidFill>
              </a:rPr>
              <a:t>GROSS 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560320"/>
            <a:ext cx="1280160" cy="54864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0F1724"/>
                </a:solidFill>
              </a:rPr>
              <a:t>76%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2697480"/>
            <a:ext cx="685800" cy="320040"/>
          </a:xfrm>
          <a:prstGeom prst="roundRect">
            <a:avLst/>
          </a:prstGeom>
          <a:solidFill>
            <a:srgbClr val="D7E6F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r>
              <a:rPr sz="1100">
                <a:solidFill>
                  <a:srgbClr val="0F1724"/>
                </a:solidFill>
              </a:rPr>
              <a:t>+2 pts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2103120"/>
            <a:ext cx="2468880" cy="1188720"/>
          </a:xfrm>
          <a:prstGeom prst="roundRect">
            <a:avLst/>
          </a:prstGeom>
          <a:solidFill>
            <a:srgbClr val="FFFFFF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2240280"/>
            <a:ext cx="219456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 algn="l"/>
            <a:r>
              <a:rPr sz="1000" b="1">
                <a:solidFill>
                  <a:srgbClr val="646E7D"/>
                </a:solidFill>
              </a:rPr>
              <a:t>7-DAY ACTIVATION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560320"/>
            <a:ext cx="1280160" cy="54864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0F1724"/>
                </a:solidFill>
              </a:rPr>
              <a:t>61%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0" y="2697480"/>
            <a:ext cx="685800" cy="320040"/>
          </a:xfrm>
          <a:prstGeom prst="roundRect">
            <a:avLst/>
          </a:prstGeom>
          <a:solidFill>
            <a:srgbClr val="FFE1E1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r>
              <a:rPr sz="1100">
                <a:solidFill>
                  <a:srgbClr val="D23C3C"/>
                </a:solidFill>
              </a:rPr>
              <a:t>-7 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657600"/>
            <a:ext cx="4572000" cy="27432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78828C"/>
                </a:solidFill>
              </a:rPr>
              <a:t>ACTIVATION FUNNEL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023360"/>
            <a:ext cx="7635240" cy="411480"/>
          </a:xfrm>
          <a:prstGeom prst="roundRect">
            <a:avLst/>
          </a:prstGeom>
          <a:solidFill>
            <a:srgbClr val="0F172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r>
              <a:rPr sz="1200">
                <a:solidFill>
                  <a:srgbClr val="FFFFFF"/>
                </a:solidFill>
              </a:rPr>
              <a:t>   12.4k   Signed up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526280"/>
            <a:ext cx="4983480" cy="411480"/>
          </a:xfrm>
          <a:prstGeom prst="roundRect">
            <a:avLst/>
          </a:prstGeom>
          <a:solidFill>
            <a:srgbClr val="2A415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r>
              <a:rPr sz="1200">
                <a:solidFill>
                  <a:srgbClr val="FFFFFF"/>
                </a:solidFill>
              </a:rPr>
              <a:t>   8.1k   Connected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029200"/>
            <a:ext cx="3657600" cy="411480"/>
          </a:xfrm>
          <a:prstGeom prst="roundRect">
            <a:avLst/>
          </a:prstGeom>
          <a:solidFill>
            <a:srgbClr val="4B698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r>
              <a:rPr sz="1200">
                <a:solidFill>
                  <a:srgbClr val="FFFFFF"/>
                </a:solidFill>
              </a:rPr>
              <a:t>   6.0k   Invited team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532120"/>
            <a:ext cx="2377440" cy="411480"/>
          </a:xfrm>
          <a:prstGeom prst="roundRect">
            <a:avLst/>
          </a:prstGeom>
          <a:solidFill>
            <a:srgbClr val="C8F52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r>
              <a:rPr sz="1200">
                <a:solidFill>
                  <a:srgbClr val="0F1724"/>
                </a:solidFill>
              </a:rPr>
              <a:t>   3.9k   Weekly value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32520" y="4023360"/>
            <a:ext cx="2834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4206240"/>
            <a:ext cx="2468880" cy="164592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 algn="l"/>
            <a:r>
              <a:rPr b="1" sz="1000">
                <a:solidFill>
                  <a:srgbClr val="646E7D"/>
                </a:solidFill>
              </a:rPr>
              <a:t>BOARD READOUT
</a:t>
            </a:r>
            <a:r>
              <a:rPr b="1" sz="3200">
                <a:solidFill>
                  <a:srgbClr val="F06E5F"/>
                </a:solidFill>
              </a:rPr>
              <a:t>35%
</a:t>
            </a:r>
            <a:r>
              <a:rPr b="0" sz="1200">
                <a:solidFill>
                  <a:srgbClr val="0F1724"/>
                </a:solidFill>
              </a:rPr>
              <a:t>of sign-ups never connect
a data source — the
largest controllable leak.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5760720"/>
            <a:ext cx="914400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 algn="r"/>
            <a:r>
              <a:rPr sz="1400" b="0">
                <a:solidFill>
                  <a:srgbClr val="8C96A0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B4E628"/>
                </a:solidFill>
              </a:rPr>
              <a:t>THE NEXT 90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109728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 algn="l"/>
            <a:r>
              <a:rPr b="1" sz="3600">
                <a:solidFill>
                  <a:srgbClr val="FFFFFF"/>
                </a:solidFill>
              </a:rPr>
              <a:t>A focused path to
</a:t>
            </a:r>
            <a:r>
              <a:rPr b="1" sz="3600">
                <a:solidFill>
                  <a:srgbClr val="B4E628"/>
                </a:solidFill>
              </a:rPr>
              <a:t>70% activation.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3291840" cy="2560320"/>
          </a:xfrm>
          <a:prstGeom prst="roundRect">
            <a:avLst/>
          </a:prstGeom>
          <a:solidFill>
            <a:srgbClr val="121C2C"/>
          </a:solidFill>
          <a:ln w="12700">
            <a:solidFill>
              <a:srgbClr val="23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34840" y="2286000"/>
            <a:ext cx="3291840" cy="2560320"/>
          </a:xfrm>
          <a:prstGeom prst="roundRect">
            <a:avLst/>
          </a:prstGeom>
          <a:solidFill>
            <a:srgbClr val="121C2C"/>
          </a:solidFill>
          <a:ln w="12700">
            <a:solidFill>
              <a:srgbClr val="23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38160" y="2286000"/>
            <a:ext cx="3291840" cy="2560320"/>
          </a:xfrm>
          <a:prstGeom prst="roundRect">
            <a:avLst/>
          </a:prstGeom>
          <a:solidFill>
            <a:srgbClr val="121C2C"/>
          </a:solidFill>
          <a:ln w="12700">
            <a:solidFill>
              <a:srgbClr val="23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2514600"/>
            <a:ext cx="822960" cy="347472"/>
          </a:xfrm>
          <a:prstGeom prst="roundRect">
            <a:avLst/>
          </a:prstGeom>
          <a:solidFill>
            <a:srgbClr val="B4E62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r>
              <a:rPr sz="1400">
                <a:solidFill>
                  <a:srgbClr val="0F1724"/>
                </a:solidFill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514600"/>
            <a:ext cx="822960" cy="347472"/>
          </a:xfrm>
          <a:prstGeom prst="roundRect">
            <a:avLst/>
          </a:prstGeom>
          <a:solidFill>
            <a:srgbClr val="96D7F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r>
              <a:rPr sz="1400">
                <a:solidFill>
                  <a:srgbClr val="0F1724"/>
                </a:solidFill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2514600"/>
            <a:ext cx="822960" cy="347472"/>
          </a:xfrm>
          <a:prstGeom prst="roundRect">
            <a:avLst/>
          </a:prstGeom>
          <a:solidFill>
            <a:srgbClr val="E6AFF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/>
            <a:r>
              <a:rPr sz="1400">
                <a:solidFill>
                  <a:srgbClr val="0F1724"/>
                </a:solidFill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17520"/>
            <a:ext cx="2834640" cy="164592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 algn="l"/>
            <a:r>
              <a:rPr b="1" sz="1800">
                <a:solidFill>
                  <a:srgbClr val="FFFFFF"/>
                </a:solidFill>
              </a:rPr>
              <a:t>Instrument
</a:t>
            </a:r>
            <a:r>
              <a:rPr b="1" sz="1000">
                <a:solidFill>
                  <a:srgbClr val="B4E628"/>
                </a:solidFill>
              </a:rPr>
              <a:t>WEEKS 1-3
</a:t>
            </a:r>
            <a:r>
              <a:rPr b="0" sz="1100">
                <a:solidFill>
                  <a:srgbClr val="C8D2E1"/>
                </a:solidFill>
              </a:rPr>
              <a:t>Find the three moments where
setup breaks.
</a:t>
            </a:r>
            <a:r>
              <a:rPr b="0" sz="1100">
                <a:solidFill>
                  <a:srgbClr val="B4E628"/>
                </a:solidFill>
              </a:rPr>
              <a:t>•  </a:t>
            </a:r>
            <a:r>
              <a:rPr b="0" sz="1100">
                <a:solidFill>
                  <a:srgbClr val="DCE6F0"/>
                </a:solidFill>
              </a:rPr>
              <a:t>Event taxonomy
</a:t>
            </a:r>
            <a:r>
              <a:rPr b="0" sz="1100">
                <a:solidFill>
                  <a:srgbClr val="B4E628"/>
                </a:solidFill>
              </a:rPr>
              <a:t>•  </a:t>
            </a:r>
            <a:r>
              <a:rPr b="0" sz="1100">
                <a:solidFill>
                  <a:srgbClr val="DCE6F0"/>
                </a:solidFill>
              </a:rPr>
              <a:t>Journey replay
</a:t>
            </a:r>
            <a:r>
              <a:rPr b="0" sz="1100">
                <a:solidFill>
                  <a:srgbClr val="B4E628"/>
                </a:solidFill>
              </a:rPr>
              <a:t>•  </a:t>
            </a:r>
            <a:r>
              <a:rPr b="0" sz="1100">
                <a:solidFill>
                  <a:srgbClr val="DCE6F0"/>
                </a:solidFill>
              </a:rPr>
              <a:t>Owner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017520"/>
            <a:ext cx="2834640" cy="164592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 algn="l"/>
            <a:r>
              <a:rPr b="1" sz="1800">
                <a:solidFill>
                  <a:srgbClr val="FFFFFF"/>
                </a:solidFill>
              </a:rPr>
              <a:t>Remove friction
</a:t>
            </a:r>
            <a:r>
              <a:rPr b="1" sz="1000">
                <a:solidFill>
                  <a:srgbClr val="96D7F5"/>
                </a:solidFill>
              </a:rPr>
              <a:t>WEEKS 4-8
</a:t>
            </a:r>
            <a:r>
              <a:rPr b="0" sz="1100">
                <a:solidFill>
                  <a:srgbClr val="C8D2E1"/>
                </a:solidFill>
              </a:rPr>
              <a:t>Ship the smallest changes that
unblock first value.
</a:t>
            </a:r>
            <a:r>
              <a:rPr b="0" sz="1100">
                <a:solidFill>
                  <a:srgbClr val="96D7F5"/>
                </a:solidFill>
              </a:rPr>
              <a:t>•  </a:t>
            </a:r>
            <a:r>
              <a:rPr b="0" sz="1100">
                <a:solidFill>
                  <a:srgbClr val="DCE6F0"/>
                </a:solidFill>
              </a:rPr>
              <a:t>Guided connector
</a:t>
            </a:r>
            <a:r>
              <a:rPr b="0" sz="1100">
                <a:solidFill>
                  <a:srgbClr val="96D7F5"/>
                </a:solidFill>
              </a:rPr>
              <a:t>•  </a:t>
            </a:r>
            <a:r>
              <a:rPr b="0" sz="1100">
                <a:solidFill>
                  <a:srgbClr val="DCE6F0"/>
                </a:solidFill>
              </a:rPr>
              <a:t>Role presets
</a:t>
            </a:r>
            <a:r>
              <a:rPr b="0" sz="1100">
                <a:solidFill>
                  <a:srgbClr val="96D7F5"/>
                </a:solidFill>
              </a:rPr>
              <a:t>•  </a:t>
            </a:r>
            <a:r>
              <a:rPr b="0" sz="1100">
                <a:solidFill>
                  <a:srgbClr val="DCE6F0"/>
                </a:solidFill>
              </a:rPr>
              <a:t>Recovery states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017520"/>
            <a:ext cx="2834640" cy="164592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 algn="l"/>
            <a:r>
              <a:rPr b="1" sz="1800">
                <a:solidFill>
                  <a:srgbClr val="FFFFFF"/>
                </a:solidFill>
              </a:rPr>
              <a:t>Scale the win
</a:t>
            </a:r>
            <a:r>
              <a:rPr b="1" sz="1000">
                <a:solidFill>
                  <a:srgbClr val="E6AFF0"/>
                </a:solidFill>
              </a:rPr>
              <a:t>WEEKS 9-12
</a:t>
            </a:r>
            <a:r>
              <a:rPr b="0" sz="1100">
                <a:solidFill>
                  <a:srgbClr val="C8D2E1"/>
                </a:solidFill>
              </a:rPr>
              <a:t>Standardize the loop and expand
by segment.
</a:t>
            </a:r>
            <a:r>
              <a:rPr b="0" sz="1100">
                <a:solidFill>
                  <a:srgbClr val="E6AFF0"/>
                </a:solidFill>
              </a:rPr>
              <a:t>•  </a:t>
            </a:r>
            <a:r>
              <a:rPr b="0" sz="1100">
                <a:solidFill>
                  <a:srgbClr val="DCE6F0"/>
                </a:solidFill>
              </a:rPr>
              <a:t>Lifecycle prompts
</a:t>
            </a:r>
            <a:r>
              <a:rPr b="0" sz="1100">
                <a:solidFill>
                  <a:srgbClr val="E6AFF0"/>
                </a:solidFill>
              </a:rPr>
              <a:t>•  </a:t>
            </a:r>
            <a:r>
              <a:rPr b="0" sz="1100">
                <a:solidFill>
                  <a:srgbClr val="DCE6F0"/>
                </a:solidFill>
              </a:rPr>
              <a:t>CS playbook
</a:t>
            </a:r>
            <a:r>
              <a:rPr b="0" sz="1100">
                <a:solidFill>
                  <a:srgbClr val="E6AFF0"/>
                </a:solidFill>
              </a:rPr>
              <a:t>•  </a:t>
            </a:r>
            <a:r>
              <a:rPr b="0" sz="1100">
                <a:solidFill>
                  <a:srgbClr val="DCE6F0"/>
                </a:solidFill>
              </a:rPr>
              <a:t>Weekly scorecard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74920"/>
            <a:ext cx="10698480" cy="548640"/>
          </a:xfrm>
          <a:prstGeom prst="roundRect">
            <a:avLst/>
          </a:prstGeom>
          <a:solidFill>
            <a:srgbClr val="C8F52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138928"/>
            <a:ext cx="10058400" cy="41148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 algn="l"/>
            <a:r>
              <a:rPr b="1" sz="1100">
                <a:solidFill>
                  <a:srgbClr val="0F1724"/>
                </a:solidFill>
              </a:rPr>
              <a:t>DECISION TODAY         </a:t>
            </a:r>
            <a:r>
              <a:rPr b="1" sz="1300">
                <a:solidFill>
                  <a:srgbClr val="0F1724"/>
                </a:solidFill>
              </a:rPr>
              <a:t>Fund one activation squad for 90 days; review progress every Friday.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5760720"/>
            <a:ext cx="914400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 algn="r"/>
            <a:r>
              <a:rPr sz="1400" b="0">
                <a:solidFill>
                  <a:srgbClr val="8C9BAF"/>
                </a:solidFill>
              </a:rP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Northstar Board Update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